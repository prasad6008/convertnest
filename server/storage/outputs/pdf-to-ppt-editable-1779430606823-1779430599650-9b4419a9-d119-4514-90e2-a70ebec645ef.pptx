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4469754"/>
            <a:ext cx="9144000" cy="673925"/>
          </a:xfrm>
          <a:prstGeom prst="rect">
            <a:avLst/>
          </a:prstGeom>
        </p:spPr>
      </p:pic>
      <p:pic>
        <p:nvPicPr>
          <p:cNvPr id="3" name="Picture 2" descr="page-1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4531311"/>
            <a:ext cx="2277719" cy="610565"/>
          </a:xfrm>
          <a:prstGeom prst="rect">
            <a:avLst/>
          </a:prstGeom>
        </p:spPr>
      </p:pic>
      <p:pic>
        <p:nvPicPr>
          <p:cNvPr id="4" name="Picture 3" descr="page-1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925" y="4524478"/>
            <a:ext cx="6823075" cy="6105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64193" y="4720265"/>
            <a:ext cx="5922031" cy="3680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TwCenMT-Regular"/>
              </a:rPr>
              <a:t>22AIP10 &amp; INTERNET OF THINGS LABORATORY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645" y="3447391"/>
            <a:ext cx="1268044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Guided By  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645" y="3721711"/>
            <a:ext cx="1738731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     MRS.LALITHA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723" y="2975434"/>
            <a:ext cx="1608202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PRESENTED By  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923" y="3524074"/>
            <a:ext cx="2189762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PRASAD R S {22AI037}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923" y="3798394"/>
            <a:ext cx="2526034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NAGAJOTHI T R {22IT024}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923" y="4072714"/>
            <a:ext cx="2492658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GOVARTHINI M {22IT009}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1274" y="1003378"/>
            <a:ext cx="4849977" cy="533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TwCenMT-Regular"/>
              </a:rPr>
              <a:t>CONTACTLESS DOORBELL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1520" y="1552018"/>
            <a:ext cx="3372764" cy="533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FFFFFF"/>
                </a:solidFill>
                <a:latin typeface="TwCenMT-Regular"/>
              </a:rPr>
              <a:t> USING ARDUINO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277" y="4707028"/>
            <a:ext cx="1580540" cy="2850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TwCenMT-Regular"/>
              </a:rPr>
              <a:t>TEAM NO    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086842"/>
            <a:ext cx="9144000" cy="315722"/>
          </a:xfrm>
          <a:prstGeom prst="rect">
            <a:avLst/>
          </a:prstGeom>
        </p:spPr>
      </p:pic>
      <p:pic>
        <p:nvPicPr>
          <p:cNvPr id="3" name="Picture 2" descr="page-2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120675"/>
            <a:ext cx="570953" cy="246964"/>
          </a:xfrm>
          <a:prstGeom prst="rect">
            <a:avLst/>
          </a:prstGeom>
        </p:spPr>
      </p:pic>
      <p:pic>
        <p:nvPicPr>
          <p:cNvPr id="4" name="Picture 3" descr="page-2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8" y="1120675"/>
            <a:ext cx="8592121" cy="246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477" y="515841"/>
            <a:ext cx="1798314" cy="6165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464646"/>
                </a:solidFill>
                <a:latin typeface="TwCenMT-Regular"/>
              </a:rP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763" y="1620077"/>
            <a:ext cx="625449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     1.A contactless doorbell system using Arduino and an ultrasonic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763" y="1894397"/>
            <a:ext cx="673912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sensor.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1763" y="2168717"/>
            <a:ext cx="6340676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     2.Detects the presence of a person near the door without physical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763" y="2443037"/>
            <a:ext cx="609904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touch.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763" y="2717357"/>
            <a:ext cx="6085103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     3. When a person approaches, the ultrasonic sensor signals the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763" y="2991677"/>
            <a:ext cx="863879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Arduino.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763" y="3265997"/>
            <a:ext cx="6360563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     4. Arduino triggers a buzzer or relay-controlled doorbell to sound.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1763" y="3540317"/>
            <a:ext cx="5633159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     5. Provides a hygienic solution, reducing the risk of germ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1763" y="3814637"/>
            <a:ext cx="1257300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transmission.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763" y="4088957"/>
            <a:ext cx="6367651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     6. Can be integrated with smart home systems for notifications 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763" y="4363277"/>
            <a:ext cx="1718614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camera activation.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086842"/>
            <a:ext cx="9144000" cy="315722"/>
          </a:xfrm>
          <a:prstGeom prst="rect">
            <a:avLst/>
          </a:prstGeom>
        </p:spPr>
      </p:pic>
      <p:pic>
        <p:nvPicPr>
          <p:cNvPr id="3" name="Picture 2" descr="page-2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120675"/>
            <a:ext cx="570953" cy="246964"/>
          </a:xfrm>
          <a:prstGeom prst="rect">
            <a:avLst/>
          </a:prstGeom>
        </p:spPr>
      </p:pic>
      <p:pic>
        <p:nvPicPr>
          <p:cNvPr id="4" name="Picture 3" descr="page-2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8" y="1120675"/>
            <a:ext cx="8592121" cy="246964"/>
          </a:xfrm>
          <a:prstGeom prst="rect">
            <a:avLst/>
          </a:prstGeom>
        </p:spPr>
      </p:pic>
      <p:pic>
        <p:nvPicPr>
          <p:cNvPr id="5" name="Picture 4" descr="page-3-image-5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601" y="2086561"/>
            <a:ext cx="2342882" cy="1952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9477" y="515841"/>
            <a:ext cx="2383579" cy="6165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464646"/>
                </a:solidFill>
                <a:latin typeface="TwCenMT-Regular"/>
              </a:rPr>
              <a:t>Objectives: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205" y="1753999"/>
            <a:ext cx="4199152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1.Design a contactless doorbell system using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205" y="2028319"/>
            <a:ext cx="3108959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Arduino and an ultrasonic sensor.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5" y="2302639"/>
            <a:ext cx="4550053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2. Detect a person's presence and trigger a sound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205" y="2576959"/>
            <a:ext cx="1827427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alert without touch.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205" y="2851279"/>
            <a:ext cx="4800598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3. Improve hygiene by eliminating physical contact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05" y="3125599"/>
            <a:ext cx="1662607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with the doorbell.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5" y="3399919"/>
            <a:ext cx="4709159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-4.Create an efficient and scalable IoT solution for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5" y="3674238"/>
            <a:ext cx="1694154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home automation.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05" y="3948558"/>
            <a:ext cx="4725389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-5.Enable integration with smart home systems for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5" y="4222879"/>
            <a:ext cx="1857146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added functionality.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086842"/>
            <a:ext cx="9144000" cy="315722"/>
          </a:xfrm>
          <a:prstGeom prst="rect">
            <a:avLst/>
          </a:prstGeom>
        </p:spPr>
      </p:pic>
      <p:pic>
        <p:nvPicPr>
          <p:cNvPr id="3" name="Picture 2" descr="page-2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120675"/>
            <a:ext cx="570953" cy="246964"/>
          </a:xfrm>
          <a:prstGeom prst="rect">
            <a:avLst/>
          </a:prstGeom>
        </p:spPr>
      </p:pic>
      <p:pic>
        <p:nvPicPr>
          <p:cNvPr id="4" name="Picture 3" descr="page-2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8" y="1120675"/>
            <a:ext cx="8592121" cy="246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477" y="515841"/>
            <a:ext cx="4768388" cy="6165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464646"/>
                </a:solidFill>
                <a:latin typeface="TwCenMT-Regular"/>
              </a:rPr>
              <a:t>Components Required: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363" y="1894753"/>
            <a:ext cx="3247948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1. Arduino board (Uno, Nano,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363" y="2169073"/>
            <a:ext cx="2975914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2. Ultrasonic sensor (HC-SR04)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363" y="2443393"/>
            <a:ext cx="1960473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3. Buzzer or Speaker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363" y="2717713"/>
            <a:ext cx="2505684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4. Relay module (optional)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363" y="2992033"/>
            <a:ext cx="176410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5. LEDs (optional)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363" y="3266352"/>
            <a:ext cx="149801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6. Jumper wires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363" y="3540673"/>
            <a:ext cx="1339138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7. Breadboard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363" y="3814993"/>
            <a:ext cx="281086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8. Power supply or USB cable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086842"/>
            <a:ext cx="9144000" cy="315722"/>
          </a:xfrm>
          <a:prstGeom prst="rect">
            <a:avLst/>
          </a:prstGeom>
        </p:spPr>
      </p:pic>
      <p:pic>
        <p:nvPicPr>
          <p:cNvPr id="3" name="Picture 2" descr="page-2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120675"/>
            <a:ext cx="570953" cy="246964"/>
          </a:xfrm>
          <a:prstGeom prst="rect">
            <a:avLst/>
          </a:prstGeom>
        </p:spPr>
      </p:pic>
      <p:pic>
        <p:nvPicPr>
          <p:cNvPr id="4" name="Picture 3" descr="page-2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8" y="1120675"/>
            <a:ext cx="8592121" cy="246964"/>
          </a:xfrm>
          <a:prstGeom prst="rect">
            <a:avLst/>
          </a:prstGeom>
        </p:spPr>
      </p:pic>
      <p:pic>
        <p:nvPicPr>
          <p:cNvPr id="5" name="Picture 4" descr="page-5-image-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875" y="1352158"/>
            <a:ext cx="5617794" cy="3737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963" y="426573"/>
            <a:ext cx="3120896" cy="6165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4200" b="0" i="0">
                <a:solidFill>
                  <a:srgbClr val="464646"/>
                </a:solidFill>
                <a:latin typeface="TwCenMT-Regular"/>
              </a:rPr>
              <a:t>Flow Diagram: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086842"/>
            <a:ext cx="9144000" cy="315722"/>
          </a:xfrm>
          <a:prstGeom prst="rect">
            <a:avLst/>
          </a:prstGeom>
        </p:spPr>
      </p:pic>
      <p:pic>
        <p:nvPicPr>
          <p:cNvPr id="3" name="Picture 2" descr="page-2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120675"/>
            <a:ext cx="570953" cy="246964"/>
          </a:xfrm>
          <a:prstGeom prst="rect">
            <a:avLst/>
          </a:prstGeom>
        </p:spPr>
      </p:pic>
      <p:pic>
        <p:nvPicPr>
          <p:cNvPr id="4" name="Picture 3" descr="page-2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8" y="1120675"/>
            <a:ext cx="8592121" cy="246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9477" y="259027"/>
            <a:ext cx="3128367" cy="575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900" b="0" i="0">
                <a:solidFill>
                  <a:srgbClr val="464646"/>
                </a:solidFill>
                <a:latin typeface="TwCenMT-Regular"/>
              </a:rPr>
              <a:t>Implementation: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477" y="770029"/>
            <a:ext cx="3151855" cy="395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99" b="0" i="0">
                <a:solidFill>
                  <a:srgbClr val="464646"/>
                </a:solidFill>
                <a:latin typeface="TwCenMT-Regular"/>
              </a:rPr>
              <a:t>(Hardware or software)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877" y="1498398"/>
            <a:ext cx="815008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1. </a:t>
            </a:r>
            <a:r>
              <a:rPr sz="1800" b="1" i="0">
                <a:solidFill>
                  <a:srgbClr val="000000"/>
                </a:solidFill>
                <a:latin typeface="TimesNewRomanPS-BoldMT"/>
              </a:rPr>
              <a:t>Connect the Ultrasonic Sensor </a:t>
            </a:r>
            <a:r>
              <a:rPr sz="1800" b="0" i="0">
                <a:solidFill>
                  <a:srgbClr val="000000"/>
                </a:solidFill>
                <a:latin typeface="TimesNewRomanPSMT"/>
              </a:rPr>
              <a:t>: to the Arduino using jumper wires, ensuring proper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877" y="1772718"/>
            <a:ext cx="4551197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connections for VCC, GND, Trig, and Echo pins.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77" y="2047038"/>
            <a:ext cx="735186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2. </a:t>
            </a:r>
            <a:r>
              <a:rPr sz="1800" b="1" i="0">
                <a:solidFill>
                  <a:srgbClr val="000000"/>
                </a:solidFill>
                <a:latin typeface="TimesNewRomanPS-BoldMT"/>
              </a:rPr>
              <a:t>Wire the Buzzer : </a:t>
            </a:r>
            <a:r>
              <a:rPr sz="1800" b="0" i="0">
                <a:solidFill>
                  <a:srgbClr val="000000"/>
                </a:solidFill>
                <a:latin typeface="TimesNewRomanPSMT"/>
              </a:rPr>
              <a:t>or relay module to the Arduino to act as the doorbell alert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77" y="2321358"/>
            <a:ext cx="1142542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mechanism.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77" y="2595678"/>
            <a:ext cx="7975600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3. </a:t>
            </a:r>
            <a:r>
              <a:rPr sz="1800" b="1" i="0">
                <a:solidFill>
                  <a:srgbClr val="000000"/>
                </a:solidFill>
                <a:latin typeface="TimesNewRomanPS-BoldMT"/>
              </a:rPr>
              <a:t>Upload the Arduino Code : </a:t>
            </a:r>
            <a:r>
              <a:rPr sz="1800" b="0" i="0">
                <a:solidFill>
                  <a:srgbClr val="000000"/>
                </a:solidFill>
                <a:latin typeface="TimesNewRomanPSMT"/>
              </a:rPr>
              <a:t>that reads distance data from the ultrasonic sensor and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77" y="2869998"/>
            <a:ext cx="6815479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triggers the buzzer or relay when a person is detected within the set range.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877" y="3144318"/>
            <a:ext cx="7818488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4. </a:t>
            </a:r>
            <a:r>
              <a:rPr sz="1800" b="1" i="0">
                <a:solidFill>
                  <a:srgbClr val="000000"/>
                </a:solidFill>
                <a:latin typeface="TimesNewRomanPS-BoldMT"/>
              </a:rPr>
              <a:t>Test the System: </a:t>
            </a:r>
            <a:r>
              <a:rPr sz="1800" b="0" i="0">
                <a:solidFill>
                  <a:srgbClr val="000000"/>
                </a:solidFill>
                <a:latin typeface="TimesNewRomanPSMT"/>
              </a:rPr>
              <a:t>to ensure the sensor accurately detects proximity and the buzzer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877" y="3418639"/>
            <a:ext cx="2017166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activates as expected.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77" y="3692958"/>
            <a:ext cx="8251000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5</a:t>
            </a:r>
            <a:r>
              <a:rPr sz="1800" b="1" i="0">
                <a:solidFill>
                  <a:srgbClr val="000000"/>
                </a:solidFill>
                <a:latin typeface="TimesNewRomanPS-BoldMT"/>
              </a:rPr>
              <a:t>. Optional : </a:t>
            </a:r>
            <a:r>
              <a:rPr sz="1800" b="0" i="0">
                <a:solidFill>
                  <a:srgbClr val="000000"/>
                </a:solidFill>
                <a:latin typeface="TimesNewRomanPSMT"/>
              </a:rPr>
              <a:t>Integrate LEDs for visual feedback or additional smart home features, such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77" y="3967278"/>
            <a:ext cx="3411854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as notifications or camera activation.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877" y="4241598"/>
            <a:ext cx="8152741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6. </a:t>
            </a:r>
            <a:r>
              <a:rPr sz="1800" b="1" i="0">
                <a:solidFill>
                  <a:srgbClr val="000000"/>
                </a:solidFill>
                <a:latin typeface="TimesNewRomanPS-BoldMT"/>
              </a:rPr>
              <a:t>Assemble and Mount : </a:t>
            </a:r>
            <a:r>
              <a:rPr sz="1800" b="0" i="0">
                <a:solidFill>
                  <a:srgbClr val="000000"/>
                </a:solidFill>
                <a:latin typeface="TimesNewRomanPSMT"/>
              </a:rPr>
              <a:t>the components in a suitable enclosure and install the system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877" y="4515918"/>
            <a:ext cx="2549575" cy="28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NewRomanPSMT"/>
              </a:rPr>
              <a:t>near the door for operation.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-image-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1086842"/>
            <a:ext cx="9144000" cy="315722"/>
          </a:xfrm>
          <a:prstGeom prst="rect">
            <a:avLst/>
          </a:prstGeom>
        </p:spPr>
      </p:pic>
      <p:pic>
        <p:nvPicPr>
          <p:cNvPr id="3" name="Picture 2" descr="page-2-image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" y="1120675"/>
            <a:ext cx="570953" cy="246964"/>
          </a:xfrm>
          <a:prstGeom prst="rect">
            <a:avLst/>
          </a:prstGeom>
        </p:spPr>
      </p:pic>
      <p:pic>
        <p:nvPicPr>
          <p:cNvPr id="4" name="Picture 3" descr="page-2-image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78" y="1120675"/>
            <a:ext cx="8592121" cy="246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64675" y="2255128"/>
            <a:ext cx="3057753" cy="782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D3EEF5"/>
                </a:solidFill>
                <a:latin typeface="TwCenMT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